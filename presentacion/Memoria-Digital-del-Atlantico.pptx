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c6b7d4aa-9ebf-bcf4-64f1-0cf51099f486}">
          <p14:sldIdLst>
            <p14:sldId id="256"/>
          </p14:sldIdLst>
        </p14:section>
        <p14:section name="Contexto" id="{646080ad-a70b-f1ea-324f-99d577feb6d9}">
          <p14:sldIdLst>
            <p14:sldId id="257"/>
            <p14:sldId id="258"/>
          </p14:sldIdLst>
        </p14:section>
        <p14:section name="Problema" id="{33136f7e-72df-c8cb-04f5-0f20059d7456}">
          <p14:sldIdLst>
            <p14:sldId id="259"/>
            <p14:sldId id="260"/>
            <p14:sldId id="261"/>
            <p14:sldId id="262"/>
          </p14:sldIdLst>
        </p14:section>
        <p14:section name="Propuesta" id="{f93017f6-0295-cde6-3a0f-32c3561b41d0}">
          <p14:sldIdLst>
            <p14:sldId id="263"/>
            <p14:sldId id="264"/>
            <p14:sldId id="265"/>
          </p14:sldIdLst>
        </p14:section>
        <p14:section name="Cómo trabajamos" id="{cc995ce7-ce3f-052d-c69e-b080393ed0c3}">
          <p14:sldIdLst>
            <p14:sldId id="266"/>
            <p14:sldId id="267"/>
          </p14:sldIdLst>
        </p14:section>
        <p14:section name="Cierre" id="{d82c6489-7b42-7548-7e13-9ceb4c04212a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A5A64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4A5A64"/>
                </a:solidFill>
                <a:latin typeface="+mn-lt"/>
              </a:rPr>
              <a:t>Puntaje en la matriz (máx. 25)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Puntaje</c:v>
                </c:pt>
              </c:strCache>
            </c:strRef>
          </c:tx>
          <c:spPr>
            <a:solidFill>
              <a:srgbClr val="0F7C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A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7C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7C7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B48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B48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P1 Solo en papel</c:v>
                  </c:pt>
                  <c:pt idx="1">
                    <c:v>P2 Depende del personal</c:v>
                  </c:pt>
                  <c:pt idx="2">
                    <c:v>P4 Tecnología solo en vitrina</c:v>
                  </c:pt>
                  <c:pt idx="3">
                    <c:v>P3 Registros manuales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</c:v>
                </c:pt>
                <c:pt idx="1">
                  <c:v>20</c:v>
                </c:pt>
                <c:pt idx="2">
                  <c:v>17</c:v>
                </c:pt>
                <c:pt idx="3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2A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A6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Juan: presentación del equipo y del título. 'Somos Santiago, Iván, Samuel y Juan. Visitamos el CLENA el 26 de septiembre y nos enfocamos en el Archivo Histórico del Atlántico.' (30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Juan: el CLENA y sus cuatro espacios. Recorrimos todo el complejo; nos quedamos con el Archivo Histórico (resaltado). (1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Samuel: describe la foto. 'Esta es la zona de atención del Archivo. Atrás se ven las estanterías con cajas de cartón: ahí están los documentos.' Luego las 4 observaciones. (1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Samuel: 'Estas son nuestras dos fotos de la visita. En la Galería la historia se cuenta con proyecciones; en el Archivo, donde están los documentos reales, todo sigue en cartón.' Aclarar con honestidad: tomamos pocas fotos porque aún no conocíamos los requisitos del laboratorio; el resto es registro testimonial. (1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Santiago: 'No escogimos al azar. Puntuamos cada problema de 1 a 5 en cinco criterios. Ganaron P1 y P2, que tienen la misma causa: el archivo solo existe en papel y se maneja a mano.' (1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Santiago: leer el enunciado. Remarcar que se formuló sin mencionar tecnología, como pide la guía. La consecuencia más grave: si un documento se daña, se pierde para siempre. (1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Santiago: recorrer los actores rápidamente, destacando investigadores (usuario directo) y personal (responsable del proceso). (45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Juan: presentar la idea en una frase. (20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Juan: explicar el flujo de izquierda a derecha. Para el usuario: busca en el portal o escanea el QR, lee con zoom y, si necesita el original, ya sabe en qué caja y estante está. (1 min 15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Juan: no hace falta digitalizar todo de una vez. La fase 1 ya resuelve la búsqueda. Mencionar costos y riesgos. (45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Iván: roles, ceremonias en Teams y lo que salió de la retrospectiva. Ser honestos: las ceremonias se hicieron al final; es la principal lección. (1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Juan: mostrar el repo y el tablero si hay tiempo. Explicar que nada entró a main sin un Pull Request revisado. (45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Todos: cada integrante dice uno de los aprendizajes (Santiago 1, Iván 4, Samuel 3, Juan 2). Cerrar con preguntas. (45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5"/>
                </a:solidFill>
              </a:rPr>
              <a:t>LABORATORIO DE CAMPO · CLENA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Memoria Digital del Atlántico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9260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Del cartón a la consulta digital: una propuesta para el Archivo Histórico del Atlántico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14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Santiago Barros · Iván Gómez · Samuel Pimienta · Juan Riaño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Introducción a la Ingeniería de Sistemas y Computación · Prof. Daniel Romero · Uninorte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El CLENA guarda la memoria de Barranquilla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Antigua Aduana de Barranquilla, construida en 1919, Monumento Nacional desde 1984 y restaurada en 1994.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La administra la Corporación Luis Eduardo Nieto Arteta (CLENA).</a:t>
            </a:r>
            <a:endParaRPr lang="en-US" sz="1500" dirty="0"/>
          </a:p>
        </p:txBody>
      </p:sp>
      <p:sp>
        <p:nvSpPr>
          <p:cNvPr id="4" name="card0"/>
          <p:cNvSpPr/>
          <p:nvPr/>
        </p:nvSpPr>
        <p:spPr>
          <a:xfrm>
            <a:off x="457200" y="2011680"/>
            <a:ext cx="1920240" cy="23774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2860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2608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Biblioteca Piloto del Caribe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6576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Colecciones y libros antiguos</a:t>
            </a:r>
            <a:endParaRPr lang="en-US" sz="1200" dirty="0"/>
          </a:p>
        </p:txBody>
      </p:sp>
      <p:sp>
        <p:nvSpPr>
          <p:cNvPr id="9" name="card1"/>
          <p:cNvSpPr/>
          <p:nvPr/>
        </p:nvSpPr>
        <p:spPr>
          <a:xfrm>
            <a:off x="2560320" y="2011680"/>
            <a:ext cx="1920240" cy="237744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88920" y="2286000"/>
            <a:ext cx="502920" cy="50292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889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292608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Archivo Histórico del Atlántico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788920" y="36576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Documentos originales del departamento</a:t>
            </a:r>
            <a:endParaRPr lang="en-US" sz="1200" dirty="0"/>
          </a:p>
        </p:txBody>
      </p:sp>
      <p:sp>
        <p:nvSpPr>
          <p:cNvPr id="14" name="card2"/>
          <p:cNvSpPr/>
          <p:nvPr/>
        </p:nvSpPr>
        <p:spPr>
          <a:xfrm>
            <a:off x="4663440" y="2011680"/>
            <a:ext cx="1920240" cy="23774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92040" y="22860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920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2608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Biblioteca Infantil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6576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Lectura y actividades para niños</a:t>
            </a:r>
            <a:endParaRPr lang="en-US" sz="1200" dirty="0"/>
          </a:p>
        </p:txBody>
      </p:sp>
      <p:sp>
        <p:nvSpPr>
          <p:cNvPr id="19" name="card3"/>
          <p:cNvSpPr/>
          <p:nvPr/>
        </p:nvSpPr>
        <p:spPr>
          <a:xfrm>
            <a:off x="6766560" y="2011680"/>
            <a:ext cx="1920240" cy="23774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95160" y="22860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9516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292608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Galería – Memoria Urbana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36576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Historia contada con proyecciones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Laboratorio CLENA · Introducción a la Ingeniería de Sistemas · Uninorte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Espacio observado: Archivo Histórico</a:t>
            </a:r>
            <a:endParaRPr lang="en-US" sz="3000" dirty="0"/>
          </a:p>
        </p:txBody>
      </p:sp>
      <p:pic>
        <p:nvPicPr>
          <p:cNvPr id="3" name="fotoArchivo" descr="/home/claude/clena-laboratorio/evidencias/fotografias/foto-02-archivo-historico-deposito-caja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2011680" cy="35753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6817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Foto propia · 26/09/2026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2834640" y="118872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3383280" y="11430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Cajas de cartón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3383280" y="14630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Los documentos se guardan en cajas sobre estanterías metálicas.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834640" y="205740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383280" y="2011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Todo pasa por el personal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383280" y="23317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El usuario no entra al depósito: pide los documentos en la zona de atención.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834640" y="292608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383280" y="28803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Originales frágiles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383280" y="32004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Cada consulta implica sacar y manipular un documento único.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834640" y="379476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383280" y="37490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Sin herramientas digitales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383280" y="40690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 vimos un inventario ni un acceso digital para el visitante.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La tecnología está en la vitrina, no en el archivo</a:t>
            </a:r>
            <a:endParaRPr lang="en-US" sz="3000" dirty="0"/>
          </a:p>
        </p:txBody>
      </p:sp>
      <p:pic>
        <p:nvPicPr>
          <p:cNvPr id="3" name="Image 0" descr="/home/claude/deck/crop_galeri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6060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1234440"/>
            <a:ext cx="1143000" cy="347472"/>
          </a:xfrm>
          <a:prstGeom prst="roundRect">
            <a:avLst>
              <a:gd name="adj" fmla="val 21053"/>
            </a:avLst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94360" y="123444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GALERÍA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7947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Proyecciones e interactividad para contar la historia</a:t>
            </a:r>
            <a:endParaRPr lang="en-US" sz="1400" dirty="0"/>
          </a:p>
        </p:txBody>
      </p:sp>
      <p:pic>
        <p:nvPicPr>
          <p:cNvPr id="7" name="Image 1" descr="/home/claude/deck/crop_archiv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6060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800600" y="1234440"/>
            <a:ext cx="1143000" cy="347472"/>
          </a:xfrm>
          <a:prstGeom prst="roundRect">
            <a:avLst>
              <a:gd name="adj" fmla="val 21053"/>
            </a:avLst>
          </a:prstGeom>
          <a:solidFill>
            <a:schemeClr val="accent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4800600" y="123444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ARCHIVO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37947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Los documentos originales siguen en cajas de cartón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Laboratorio CLENA · Introducción a la Ingeniería de Sistemas · Uninorte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4 problemas, priorizados con criterios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49377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669280" y="1143000"/>
            <a:ext cx="3017520" cy="333756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897880" y="1280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897880" y="1691640"/>
            <a:ext cx="2651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Cuántas personas afecta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Gravedad de la consecuencia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Fuerza de la evidencia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Si la tecnología ayuda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Viabilidad para el CLENA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897880" y="3520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P1 y P2 comparten causa: los unimos en un solo problema.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Laboratorio CLENA · Introducción a la Ingeniería de Sistemas · Uninorte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El problema seleccionado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188720"/>
            <a:ext cx="7680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Quienes acuden al Archivo Histórico no pueden saber por su cuenta qué documentos existen ni leerlos sin manipular los originales, porque solo están en papel, en cajas, y su búsqueda depende del personal.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971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Consulta lenta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5661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Todo pasa por el personal, una solicitud a la vez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2971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4612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Acceso limitado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35661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Solo quien va y pregunta conoce lo que hay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29718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0350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Pérdida irreversible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35661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Cada uso desgasta un original que no se puede reemplazar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Laboratorio CLENA · Introducción a la Ingeniería de Sistemas · Uninorte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¿A quién afecta?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USUARIO DIRECTO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Investigadores e historiadores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Necesitan encontrar y leer las fuentes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097280"/>
            <a:ext cx="26060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234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USUARIO DIRECTO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5087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Estudiantes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0574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Consultan documentos para sus trabajos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26060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234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RESPONSABLE DEL PROCESO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5087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del Archivo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0574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Busca, entrega y protege los documentos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26060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017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ADMINISTRADOR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2918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CLENA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840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Responde por conservar el patrimonio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46120" y="2880360"/>
            <a:ext cx="26060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29000" y="3017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VISITANTE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429000" y="32918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Visitantes de la Galería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3840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Ven la historia contada, no sus fuentes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35040" y="2880360"/>
            <a:ext cx="26060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0" y="3017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USUARIO INDIRECTO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32918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Ciudadanía del Atlántico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840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Es la dueña de esa memoria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5"/>
                </a:solidFill>
              </a:rPr>
              <a:t>NUESTRA PROPUESTA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Memoria Digital del Atlántico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9260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Escanear cada documento una sola vez para que cualquiera pueda encontrarlo y leerlo, sin tocar el original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Cuatro piezas, un solo flujo</a:t>
            </a:r>
            <a:endParaRPr lang="en-US" sz="3000" dirty="0"/>
          </a:p>
        </p:txBody>
      </p:sp>
      <p:sp>
        <p:nvSpPr>
          <p:cNvPr id="3" name="paso0"/>
          <p:cNvSpPr/>
          <p:nvPr/>
        </p:nvSpPr>
        <p:spPr>
          <a:xfrm>
            <a:off x="457200" y="1234440"/>
            <a:ext cx="1828800" cy="201168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Inventario digital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Qué hay en cada caja y en qué estante</a:t>
            </a:r>
            <a:endParaRPr lang="en-US" sz="1200" dirty="0"/>
          </a:p>
        </p:txBody>
      </p:sp>
      <p:sp>
        <p:nvSpPr>
          <p:cNvPr id="7" name="paso1"/>
          <p:cNvSpPr/>
          <p:nvPr/>
        </p:nvSpPr>
        <p:spPr>
          <a:xfrm>
            <a:off x="2560320" y="1234440"/>
            <a:ext cx="1828800" cy="201168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43200" y="13716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19202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Digitalización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4688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Escáner cenital, una sola vez por documento</a:t>
            </a:r>
            <a:endParaRPr lang="en-US" sz="1200" dirty="0"/>
          </a:p>
        </p:txBody>
      </p:sp>
      <p:sp>
        <p:nvSpPr>
          <p:cNvPr id="11" name="paso2"/>
          <p:cNvSpPr/>
          <p:nvPr/>
        </p:nvSpPr>
        <p:spPr>
          <a:xfrm>
            <a:off x="4663440" y="1234440"/>
            <a:ext cx="1828800" cy="201168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46320" y="13716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202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Portal web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4688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Buscar por tema, año o tipo y leer con zoom</a:t>
            </a:r>
            <a:endParaRPr lang="en-US" sz="1200" dirty="0"/>
          </a:p>
        </p:txBody>
      </p:sp>
      <p:sp>
        <p:nvSpPr>
          <p:cNvPr id="15" name="paso3"/>
          <p:cNvSpPr/>
          <p:nvPr/>
        </p:nvSpPr>
        <p:spPr>
          <a:xfrm>
            <a:off x="6766560" y="1234440"/>
            <a:ext cx="1828800" cy="2011680"/>
          </a:xfrm>
          <a:prstGeom prst="roundRect">
            <a:avLst>
              <a:gd name="adj" fmla="val 6000"/>
            </a:avLst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49440" y="13716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19202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QR en la Galería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24688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Cada vitrina enlaza al documento real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520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Tecnología: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escáner cenital · sistema de archivo de código abierto (AtoM u Omeka) · base de datos de metadatos · visor IIIF · códigos QR · OCR en una segunda fase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Laboratorio CLENA · Introducción a la Ingeniería de Sistemas · Uninorte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Implementación por fases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5577840" cy="0"/>
          </a:xfrm>
          <a:prstGeom prst="line">
            <a:avLst/>
          </a:prstGeom>
          <a:noFill/>
          <a:ln w="25400">
            <a:solidFill>
              <a:srgbClr val="7FB8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0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148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FASE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Inventario digital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88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Resuelve la búsqueda de inmediato y a bajo costo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645920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46120" y="2148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FASE 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Digitalización priorizada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2788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Primero los documentos más pedidos o más frágiles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645920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35040" y="2148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FASE 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QR en la Galería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788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Conecta la exhibición con las fuentes reales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7033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Viabilidad: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software gratuito; el costo principal es el escáner (posible alianza con universidades). Riesgos: datos personales en algunos registros y cuidado del original al escanear.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Laboratorio CLENA · Introducción a la Ingeniería de Sistemas · Uninorte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Cómo trabajamos con Scrum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2918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Santiago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Product Owner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55648"/>
            <a:ext cx="32918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556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Iván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Scrum Master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14016"/>
            <a:ext cx="32918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41401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Samuel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Evidencias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072384"/>
            <a:ext cx="32918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07238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Juan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Documentación y repo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7947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Ceremonias por Microsoft Teams: Sprint Planning, Daily, Review y Retrospective.</a:t>
            </a:r>
            <a:endParaRPr lang="en-US" sz="1300" dirty="0"/>
          </a:p>
        </p:txBody>
      </p:sp>
      <p:pic>
        <p:nvPicPr>
          <p:cNvPr id="12" name="Image 0" descr="/home/claude/clena-laboratorio/evidencias/evidencias-scrum/03-sprint-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097280"/>
            <a:ext cx="4663440" cy="247802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023360" y="36118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Sprint Review: el PR #18 aprobado e integrado durante la llamada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023360" y="39319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Retro: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empezamos tarde. Próximo sprint: leer la guía antes de salir, llevar lista de evidencias y hacer el Daily desde el día 1.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Cómo usamos GitHub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1488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issues con responsable y prioridad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188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21488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columnas en el tablero, de Backlog a Done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188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1488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ramas de trabajo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1188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21488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Pull Requests revisados por otro integrante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822960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2461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GitHub Flow: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rama → commit → push → Pull Request → revisión → merge a main.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github.com/Jrianopro20/clena-biblioteca-piloto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Laboratorio CLENA · Introducción a la Ingeniería de Sistemas · Uninorte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aprendimos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4416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258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Observar antes de proponer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89280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Si hubiéramos empezado por una app, nunca habríamos llegado al Archivo.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34416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63440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13258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 tecnología no siempre está donde más se necesita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189280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La vitrina es digital; las fuentes, de cartón.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03580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017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Lo que no se registra, no existe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58444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Tomar pocas fotos fue nuestra mayor lección.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303580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6344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3017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El proceso ordena al equipo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358444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Scrum y los Pull Requests hicieron visible quién hizo qué.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Gracias · ¿Preguntas?</a:t>
            </a:r>
            <a:endParaRPr lang="en-US" sz="1400" dirty="0"/>
          </a:p>
        </p:txBody>
      </p:sp>
      <p:sp>
        <p:nvSpPr>
          <p:cNvPr id="21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endParaRPr lang="en-US" sz="4000" dirty="0"/>
          </a:p>
        </p:txBody>
      </p:sp>
      <p:sp>
        <p:nvSpPr>
          <p:cNvPr id="22" name="Text 0"/>
          <p:cNvSpPr/>
          <p:nvPr>
            <p:ph idx="101" type="body" hasCustomPrompt="1"/>
          </p:nvPr>
        </p:nvSpPr>
        <p:spPr>
          <a:xfrm>
            <a:off x="548640" y="29260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moria Digital">
  <a:themeElements>
    <a:clrScheme name="Memoria Digital">
      <a:dk1>
        <a:srgbClr val="1C2A33"/>
      </a:dk1>
      <a:lt1>
        <a:srgbClr val="FFFFFF"/>
      </a:lt1>
      <a:dk2>
        <a:srgbClr val="4A5A64"/>
      </a:dk2>
      <a:lt2>
        <a:srgbClr val="EEF2F3"/>
      </a:lt2>
      <a:accent1>
        <a:srgbClr val="0F7C7A"/>
      </a:accent1>
      <a:accent2>
        <a:srgbClr val="B07A45"/>
      </a:accent2>
      <a:accent3>
        <a:srgbClr val="1C2A33"/>
      </a:accent3>
      <a:accent4>
        <a:srgbClr val="7FB8B5"/>
      </a:accent4>
      <a:accent5>
        <a:srgbClr val="D9B48A"/>
      </a:accent5>
      <a:accent6>
        <a:srgbClr val="8A9BA5"/>
      </a:accent6>
      <a:hlink>
        <a:srgbClr val="0F7C7A"/>
      </a:hlink>
      <a:folHlink>
        <a:srgbClr val="4A5A64"/>
      </a:folHlink>
    </a:clrScheme>
    <a:fontScheme name="Memoria Digit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Memoria Digital del Atlántico</dc:title>
  <dc:subject>PptxGenJS Presentation</dc:subject>
  <dc:creator>Santiago Barros, Iván Gómez, Samuel Pimienta, Juan Riaño</dc:creator>
  <cp:lastModifiedBy>Santiago Barros, Iván Gómez, Samuel Pimienta, Juan Riaño</cp:lastModifiedBy>
  <cp:revision>1</cp:revision>
  <dcterms:created xsi:type="dcterms:W3CDTF">2026-10-15T02:53:32Z</dcterms:created>
  <dcterms:modified xsi:type="dcterms:W3CDTF">2026-10-15T02:53:32Z</dcterms:modified>
</cp:coreProperties>
</file>